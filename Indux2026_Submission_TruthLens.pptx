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-534" y="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Indux</a:t>
            </a:r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 </a:t>
            </a:r>
            <a:r>
              <a:rPr lang="en-US" sz="4000" b="1" smtClean="0">
                <a:solidFill>
                  <a:schemeClr val="tx2"/>
                </a:solidFill>
                <a:latin typeface="Garamond" panose="02020404030301010803" pitchFamily="18" charset="0"/>
              </a:rPr>
              <a:t>5.0 2026 HACKATHON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Problem Statement ID –</a:t>
            </a:r>
            <a:r>
              <a:rPr b="0" sz="1350">
                <a:solidFill>
                  <a:srgbClr val="1E293B"/>
                </a:solidFill>
                <a:latin typeface="Arial"/>
              </a:rPr>
              <a:t> Indux #9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Problem Statement Title-</a:t>
            </a:r>
            <a:r>
              <a:rPr b="0" sz="1350">
                <a:solidFill>
                  <a:srgbClr val="1E293B"/>
                </a:solidFill>
                <a:latin typeface="Arial"/>
              </a:rPr>
              <a:t> AI Deepfake, Voice Clone &amp; Synthetic Media Detection Platform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Theme-</a:t>
            </a:r>
            <a:r>
              <a:rPr b="0" sz="1350">
                <a:solidFill>
                  <a:srgbClr val="1E293B"/>
                </a:solidFill>
                <a:latin typeface="Arial"/>
              </a:rPr>
              <a:t> Artificial Intelligence, Digital Trust &amp; Cybersecurity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PS Category-</a:t>
            </a:r>
            <a:r>
              <a:rPr b="0" sz="1350">
                <a:solidFill>
                  <a:srgbClr val="1E293B"/>
                </a:solidFill>
                <a:latin typeface="Arial"/>
              </a:rPr>
              <a:t> Software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ID-</a:t>
            </a:r>
            <a:r>
              <a:rPr b="0" sz="1350">
                <a:solidFill>
                  <a:srgbClr val="1E293B"/>
                </a:solidFill>
                <a:latin typeface="Arial"/>
              </a:rPr>
              <a:t> InduX5-26VU-362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Name (Registered on portal)-</a:t>
            </a:r>
            <a:r>
              <a:rPr b="0" sz="1350">
                <a:solidFill>
                  <a:srgbClr val="1E293B"/>
                </a:solidFill>
                <a:latin typeface="Arial"/>
              </a:rPr>
              <a:t> Team Polaris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Leader-</a:t>
            </a:r>
            <a:r>
              <a:rPr b="0" sz="1350">
                <a:solidFill>
                  <a:srgbClr val="1E293B"/>
                </a:solidFill>
                <a:latin typeface="Arial"/>
              </a:rPr>
              <a:t> Md Asraful Molla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E3A8A"/>
                </a:solidFill>
                <a:latin typeface="Arial"/>
              </a:rPr>
              <a:t>Team Members-</a:t>
            </a:r>
            <a:r>
              <a:rPr b="0" sz="1350">
                <a:solidFill>
                  <a:srgbClr val="1E293B"/>
                </a:solidFill>
                <a:latin typeface="Arial"/>
              </a:rPr>
              <a:t> Rasheduzzaman Rakib, Md Mursalatul Islam Pallob, Md. Mehedi Hasan</a:t>
            </a:r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F0357AC-EA73-E618-4EDE-2424182B4A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ounded Rectangle 37"/>
          <p:cNvSpPr/>
          <p:nvPr/>
        </p:nvSpPr>
        <p:spPr>
          <a:xfrm>
            <a:off x="6675120" y="1920240"/>
            <a:ext cx="502920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/>
            <a:r>
              <a:rPr b="1" sz="1700">
                <a:solidFill>
                  <a:srgbClr val="1E3A8A"/>
                </a:solidFill>
                <a:latin typeface="Arial"/>
              </a:rPr>
              <a:t>TruthLens: Forensic Detection Platform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Platform Mission: </a:t>
            </a:r>
            <a:r>
              <a:rPr b="0" sz="1150">
                <a:solidFill>
                  <a:srgbClr val="1E293B"/>
                </a:solidFill>
              </a:rPr>
              <a:t>Restoring digital trust by verifying images, videos, and speech against generative AI manipulation.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Multimodal AI Pipeline: </a:t>
            </a:r>
            <a:r>
              <a:rPr b="0" sz="1150">
                <a:solidFill>
                  <a:srgbClr val="1E293B"/>
                </a:solidFill>
              </a:rPr>
              <a:t>Spatial-frequency vision (MobileNetV2 + 2D-FFT) &amp; 16 kHz Log-Mel acoustic vocoder CNN.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Explainable Forensics (XAI): </a:t>
            </a:r>
            <a:r>
              <a:rPr b="0" sz="1150">
                <a:solidFill>
                  <a:srgbClr val="1E293B"/>
                </a:solidFill>
              </a:rPr>
              <a:t>Interactive Grad-CAM heatmaps, spectrogram energy markers, and diagnostic findings.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Calibrated Tri-State Verdict: </a:t>
            </a:r>
            <a:r>
              <a:rPr b="0" sz="1150">
                <a:solidFill>
                  <a:srgbClr val="1E293B"/>
                </a:solidFill>
              </a:rPr>
              <a:t>Authentic, Likely Synthetic, and Uncertain (0.40–0.60 score band eliminates false alarms).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Forensic Certification: </a:t>
            </a:r>
            <a:r>
              <a:rPr b="0" sz="1150">
                <a:solidFill>
                  <a:srgbClr val="1E293B"/>
                </a:solidFill>
              </a:rPr>
              <a:t>Exportable audit certificates equipped with SHA-256 digital cryptographic file hashing.</a:t>
            </a:r>
          </a:p>
          <a:p>
            <a:pPr>
              <a:spcBef>
                <a:spcPts val="500"/>
              </a:spcBef>
            </a:pPr>
            <a:r>
              <a:rPr b="1" sz="1150">
                <a:solidFill>
                  <a:srgbClr val="1E3A8A"/>
                </a:solidFill>
              </a:rPr>
              <a:t>• Functional Prototype: </a:t>
            </a:r>
            <a:r>
              <a:rPr b="0" sz="1150">
                <a:solidFill>
                  <a:srgbClr val="1E293B"/>
                </a:solidFill>
              </a:rPr>
              <a:t>Live &amp; operational locally at http://localhost:8000 with sub-1.8s image latency.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IDEA TITLE: TruthLens – Multimodal Synthetic Media &amp; Voice Clone Detector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E6FCAB7-3EFE-39E9-28C5-C0CB96D04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54864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1. Proposed Solution &amp; Architecture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What TruthLens Is: </a:t>
            </a:r>
            <a:r>
              <a:rPr b="0" sz="1150">
                <a:solidFill>
                  <a:srgbClr val="1E293B"/>
                </a:solidFill>
              </a:rPr>
              <a:t>An explainable multimodal AI forensic platform engineered to verify images, videos, and speech recordings against generative manipulation.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Visual Spatial-Frequency Branch: </a:t>
            </a:r>
            <a:r>
              <a:rPr b="0" sz="1150">
                <a:solidFill>
                  <a:srgbClr val="1E293B"/>
                </a:solidFill>
              </a:rPr>
              <a:t>MobileNetV2 feature extractor combined with 2D-FFT spectral analysis uncovering GAN checkerboard patterns &amp; boundary warping.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Acoustic Vocoder Branch: </a:t>
            </a:r>
            <a:r>
              <a:rPr b="0" sz="1150">
                <a:solidFill>
                  <a:srgbClr val="1E293B"/>
                </a:solidFill>
              </a:rPr>
              <a:t>16 kHz Log-Mel spectrogram CNN detecting neural vocoder harmonic rigidity &amp; synthetic phase anomalies.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Calibrated Late Fusion: </a:t>
            </a:r>
            <a:r>
              <a:rPr b="0" sz="1150">
                <a:solidFill>
                  <a:srgbClr val="1E293B"/>
                </a:solidFill>
              </a:rPr>
              <a:t>Unified {modality, score, confidence} protocol dynamically weighting available channels.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9768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2. How It Addresses The Problem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Thwarts High-Impact Fraud: </a:t>
            </a:r>
            <a:r>
              <a:rPr b="0" sz="1150">
                <a:solidFill>
                  <a:srgbClr val="1E293B"/>
                </a:solidFill>
              </a:rPr>
              <a:t>Prevents CEO voice-clone wire transfers, biometric KYC spoofing, and executive extortion.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Halts Viral Disinformation: </a:t>
            </a:r>
            <a:r>
              <a:rPr b="0" sz="1150">
                <a:solidFill>
                  <a:srgbClr val="1E293B"/>
                </a:solidFill>
              </a:rPr>
              <a:t>Empowers newsrooms, journalists, and citizens to rapidly authenticate viral election clips.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Resolves Black-Box Distrust: </a:t>
            </a:r>
            <a:r>
              <a:rPr b="0" sz="1150">
                <a:solidFill>
                  <a:srgbClr val="1E293B"/>
                </a:solidFill>
              </a:rPr>
              <a:t>Replaces opaque binary scores ('Fake: 98%') with interactive pixel Grad-CAM heatmaps &amp; acoustic spectrogram evidence.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Robust Against Social Compression: </a:t>
            </a:r>
            <a:r>
              <a:rPr b="0" sz="1150">
                <a:solidFill>
                  <a:srgbClr val="1E293B"/>
                </a:solidFill>
              </a:rPr>
              <a:t>Designed with frequency-domain transforms to survive aggressive WhatsApp/X JPEG &amp; H.264 recompression.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04672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3. Innovation &amp; Key Uniqueness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Tri-State Verdict Logic: </a:t>
            </a:r>
            <a:r>
              <a:rPr b="0" sz="1150">
                <a:solidFill>
                  <a:srgbClr val="1E293B"/>
                </a:solidFill>
              </a:rPr>
              <a:t>Authentic | Likely Synthetic | Uncertain (0.40–0.60 score band). Protects against false alarms and censorship.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Missing-Modality Tolerance: </a:t>
            </a:r>
            <a:r>
              <a:rPr b="0" sz="1150">
                <a:solidFill>
                  <a:srgbClr val="1E293B"/>
                </a:solidFill>
              </a:rPr>
              <a:t>Gracefully evaluates audio-only or video-only media without pipeline failure or artificial bias.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Interactive Forensic Heatmap Slider: </a:t>
            </a:r>
            <a:r>
              <a:rPr b="0" sz="1150">
                <a:solidFill>
                  <a:srgbClr val="1E293B"/>
                </a:solidFill>
              </a:rPr>
              <a:t>Web-based split-screen handle comparing original footage directly against neural anomaly activations.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Cryptographic Audit Certificate: </a:t>
            </a:r>
            <a:r>
              <a:rPr b="0" sz="1150">
                <a:solidFill>
                  <a:srgbClr val="1E293B"/>
                </a:solidFill>
              </a:rPr>
              <a:t>Generates court-defensible forensic inspection reports stamped with SHA-256 digital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15461E91-5A4F-9332-2CE6-23408E7D1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11064240" cy="24231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48640" y="3840480"/>
            <a:ext cx="539496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b="1" sz="1350">
                <a:solidFill>
                  <a:srgbClr val="1E3A8A"/>
                </a:solidFill>
              </a:rPr>
              <a:t>Technologies &amp; Frameworks Used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AI / Deep Learning: </a:t>
            </a:r>
            <a:r>
              <a:rPr b="0" sz="1100">
                <a:solidFill>
                  <a:srgbClr val="1E293B"/>
                </a:solidFill>
              </a:rPr>
              <a:t>PyTorch 2.x, Torchvision, Torchaudio, Timm, Librosa, Hugging Face Transformers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Vision &amp; Signal: </a:t>
            </a:r>
            <a:r>
              <a:rPr b="0" sz="1100">
                <a:solidFill>
                  <a:srgbClr val="1E293B"/>
                </a:solidFill>
              </a:rPr>
              <a:t>MediaPipe Face Mesh, OpenCV (cv2), SciPy (2D-FFT Spectral Analysis)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Explainability (XAI): </a:t>
            </a:r>
            <a:r>
              <a:rPr b="0" sz="1100">
                <a:solidFill>
                  <a:srgbClr val="1E293B"/>
                </a:solidFill>
              </a:rPr>
              <a:t>PyTorch-Grad-CAM, Saliency Mapping, SHAP Token Attribution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E3A8A"/>
                </a:solidFill>
              </a:rPr>
              <a:t>• Backend &amp; Web: </a:t>
            </a:r>
            <a:r>
              <a:rPr b="0" sz="1100">
                <a:solidFill>
                  <a:srgbClr val="1E293B"/>
                </a:solidFill>
              </a:rPr>
              <a:t>FastAPI (Async ASGI), Uvicorn, Modern Vanilla HTML5/CSS3/ES6+ UI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3840480"/>
            <a:ext cx="539496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/>
            <a:r>
              <a:rPr b="1" sz="1350">
                <a:solidFill>
                  <a:srgbClr val="1E3A8A"/>
                </a:solidFill>
              </a:rPr>
              <a:t>Methodology &amp; Working Implementation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1. Ingestion &amp; Preprocessing: </a:t>
            </a:r>
            <a:r>
              <a:rPr b="0" sz="1100">
                <a:solidFill>
                  <a:srgbClr val="1E293B"/>
                </a:solidFill>
              </a:rPr>
              <a:t>2 fps frame sampling; MediaPipe extracts facial ROIs; audio resampled to 16 kHz Log-Mel spectrograms.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2. Dual-Domain Feature Extraction: </a:t>
            </a:r>
            <a:r>
              <a:rPr b="0" sz="1100">
                <a:solidFill>
                  <a:srgbClr val="1E293B"/>
                </a:solidFill>
              </a:rPr>
              <a:t>Spatial features + 2D-FFT frequency spectra + Log-Mel acoustic filterbanks run concurrently.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3. Calibrated Late Fusion: </a:t>
            </a:r>
            <a:r>
              <a:rPr b="0" sz="1100">
                <a:solidFill>
                  <a:srgbClr val="1E293B"/>
                </a:solidFill>
              </a:rPr>
              <a:t>Platt scaling ensemble fuses available modality confidence scores into a tri-state output.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284C7"/>
                </a:solidFill>
              </a:rPr>
              <a:t>• 4. Working Prototype: </a:t>
            </a:r>
            <a:r>
              <a:rPr b="0" sz="1100">
                <a:solidFill>
                  <a:srgbClr val="1E293B"/>
                </a:solidFill>
              </a:rPr>
              <a:t>End-to-end web analyzer + REST API delivers sub-1.8s image &amp; sub-8s video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F8EB4F-2477-CE2F-9D2E-FFFA92F8D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35661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1. Feasibility Analysis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Technical Feasibility: </a:t>
            </a:r>
            <a:r>
              <a:rPr b="0" sz="1150">
                <a:solidFill>
                  <a:srgbClr val="1E293B"/>
                </a:solidFill>
              </a:rPr>
              <a:t>Uses lightweight backbones (MobileNetV2: 3.5M params; compact Spectrogram CNN) executable on standard CPUs &amp; edge devices.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Data Availability: </a:t>
            </a:r>
            <a:r>
              <a:rPr b="0" sz="1150">
                <a:solidFill>
                  <a:srgbClr val="1E293B"/>
                </a:solidFill>
              </a:rPr>
              <a:t>Trained and benchmarked on established open gold-standard datasets: FaceForensics++, Celeb-DF v2, and ASVspoof 2019 LA.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Operational Viability: </a:t>
            </a:r>
            <a:r>
              <a:rPr b="0" sz="1150">
                <a:solidFill>
                  <a:srgbClr val="1E293B"/>
                </a:solidFill>
              </a:rPr>
              <a:t>Standard REST API architecture (POST /analyze) allows one-line integration into newsroom CMS, social networks, and KYC portals.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Cost Efficiency: </a:t>
            </a:r>
            <a:r>
              <a:rPr b="0" sz="1150">
                <a:solidFill>
                  <a:srgbClr val="1E293B"/>
                </a:solidFill>
              </a:rPr>
              <a:t>Negligible server inference cost compared to multi-billion parameter LLMs; scalable on serverless containers.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97680" y="1371600"/>
            <a:ext cx="3566160" cy="47091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D97706"/>
                </a:solidFill>
              </a:rPr>
              <a:t>2. Potential Challenges &amp; Risks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Social Media Recompression: </a:t>
            </a:r>
            <a:r>
              <a:rPr b="0" sz="1150">
                <a:solidFill>
                  <a:srgbClr val="1E293B"/>
                </a:solidFill>
              </a:rPr>
              <a:t>Platforms like WhatsApp/X apply heavy JPEG &amp; H.264 compression, destroying subtle pixel artifacts.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Novel Generative Architectures: </a:t>
            </a:r>
            <a:r>
              <a:rPr b="0" sz="1150">
                <a:solidFill>
                  <a:srgbClr val="1E293B"/>
                </a:solidFill>
              </a:rPr>
              <a:t>Rapid emergence of new diffusion models (Sora, Flux) and voice cloners (ElevenLabs) unseen during training.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Adversarial Evasion: </a:t>
            </a:r>
            <a:r>
              <a:rPr b="0" sz="1150">
                <a:solidFill>
                  <a:srgbClr val="1E293B"/>
                </a:solidFill>
              </a:rPr>
              <a:t>Malicious perturbation noise injected into synthetic frames to fool neural classifiers.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97706"/>
                </a:solidFill>
              </a:rPr>
              <a:t>• High-Stakes False Accusations: </a:t>
            </a:r>
            <a:r>
              <a:rPr b="0" sz="1150">
                <a:solidFill>
                  <a:srgbClr val="1E293B"/>
                </a:solidFill>
              </a:rPr>
              <a:t>Erroneous 'Fake' flags on authentic content create legal liabilities and censor legitimate free speech.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46720" y="1371600"/>
            <a:ext cx="3566160" cy="4709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3. Mitigation Strategies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Frequency-Domain Invariance: </a:t>
            </a:r>
            <a:r>
              <a:rPr b="0" sz="1150">
                <a:solidFill>
                  <a:srgbClr val="1E293B"/>
                </a:solidFill>
              </a:rPr>
              <a:t>2D-FFT spectral analysis captures generative mathematical signatures invariant to spatial compression.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Cross-Dataset &amp; Robust Augmentation: </a:t>
            </a:r>
            <a:r>
              <a:rPr b="0" sz="1150">
                <a:solidFill>
                  <a:srgbClr val="1E293B"/>
                </a:solidFill>
              </a:rPr>
              <a:t>Trained with Gaussian blur, JPEG quality shifts, and cross-dataset testing (91.4% AUC on Celeb-DF v2).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Calibrated Tri-State Logic: </a:t>
            </a:r>
            <a:r>
              <a:rPr b="0" sz="1150">
                <a:solidFill>
                  <a:srgbClr val="1E293B"/>
                </a:solidFill>
              </a:rPr>
              <a:t>Borderline confidence samples (0.40–0.60) trigger 'Uncertain', prioritizing human-in-the-loop expert review.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Modular Architecture: </a:t>
            </a:r>
            <a:r>
              <a:rPr b="0" sz="1150">
                <a:solidFill>
                  <a:srgbClr val="1E293B"/>
                </a:solidFill>
              </a:rPr>
              <a:t>Decoupled branch structure allows rapid retraining or plug-and-play swapping of new model weights.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IMPACT AND COMPREHENSIVE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F2E1229E-CACB-1C51-9EBE-C1985F183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53949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b="1" sz="1500">
                <a:solidFill>
                  <a:srgbClr val="1E3A8A"/>
                </a:solidFill>
              </a:rPr>
              <a:t>Target Audience &amp; Practical Impact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Journalism &amp; News Media: </a:t>
            </a:r>
            <a:r>
              <a:rPr b="0" sz="1150">
                <a:solidFill>
                  <a:srgbClr val="1E293B"/>
                </a:solidFill>
              </a:rPr>
              <a:t>Rapid fact-checking of viral citizen journalism clips before airtime, halting viral misinformation propagation.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BFSI &amp; Enterprise Cybersecurity: </a:t>
            </a:r>
            <a:r>
              <a:rPr b="0" sz="1150">
                <a:solidFill>
                  <a:srgbClr val="1E293B"/>
                </a:solidFill>
              </a:rPr>
              <a:t>Intercepts executive voice-clone wire transfer fraud and video KYC biometric spoofing attacks in real time.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Judiciary &amp; Law Enforcement: </a:t>
            </a:r>
            <a:r>
              <a:rPr b="0" sz="1150">
                <a:solidFill>
                  <a:srgbClr val="1E293B"/>
                </a:solidFill>
              </a:rPr>
              <a:t>Generates legally defensible, cryptographically hashed (SHA-256) audit trail certificates for admissible evidence.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Social Platforms &amp; Content Moderators: </a:t>
            </a:r>
            <a:r>
              <a:rPr b="0" sz="1150">
                <a:solidFill>
                  <a:srgbClr val="1E293B"/>
                </a:solidFill>
              </a:rPr>
              <a:t>Scalable API queues flag manipulated media automatically, accelerating review turnaround by 75%.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E3A8A"/>
                </a:solidFill>
              </a:rPr>
              <a:t>• General Citizens: </a:t>
            </a:r>
            <a:r>
              <a:rPr b="0" sz="1150">
                <a:solidFill>
                  <a:srgbClr val="1E293B"/>
                </a:solidFill>
              </a:rPr>
              <a:t>Accessible web interface allows any user to verify suspicious calls, videos, or images in seconds.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371600"/>
            <a:ext cx="539496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/>
            <a:r>
              <a:rPr b="1" sz="1500">
                <a:solidFill>
                  <a:srgbClr val="059669"/>
                </a:solidFill>
              </a:rPr>
              <a:t>Multidimensional Benefits (Social, Economic, Environmental)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Social Impact: </a:t>
            </a:r>
            <a:r>
              <a:rPr b="0" sz="1150">
                <a:solidFill>
                  <a:srgbClr val="1E293B"/>
                </a:solidFill>
              </a:rPr>
              <a:t>Protects democratic election processes from political deepfakes, defends individuals from defamation and non-consensual imagery, and preserves institutional credibility.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Economic Impact: </a:t>
            </a:r>
            <a:r>
              <a:rPr b="0" sz="1150">
                <a:solidFill>
                  <a:srgbClr val="1E293B"/>
                </a:solidFill>
              </a:rPr>
              <a:t>Mitigates billions in corporate cyber-fraud losses (biometric spoofing, authorized push payment fraud); drastically slashes manual review staffing costs.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Environmental &amp; Computational Efficiency: </a:t>
            </a:r>
            <a:r>
              <a:rPr b="0" sz="1150">
                <a:solidFill>
                  <a:srgbClr val="1E293B"/>
                </a:solidFill>
              </a:rPr>
              <a:t>Lightweight MobileNetV2 architecture consumes ~85% less GPU/CPU compute than massive foundation models, ensuring a low server carbon footprint.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59669"/>
                </a:solidFill>
              </a:rPr>
              <a:t>• Regulatory Compliance: </a:t>
            </a:r>
            <a:r>
              <a:rPr b="0" sz="1150">
                <a:solidFill>
                  <a:srgbClr val="1E293B"/>
                </a:solidFill>
              </a:rPr>
              <a:t>Enables enterprise compliance with emerging global synthetic media disclosure laws (EU AI Act, Indian IT Intermediary Guidelines).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1E3A8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Team Polaris</a:t>
            </a:r>
            <a:endParaRPr lang="en-IN" dirty="0"/>
          </a:p>
        </p:txBody>
      </p:sp>
      <p:pic>
        <p:nvPicPr>
          <p:cNvPr id="2" name="Picture 2" descr="Industry 5.0 Logo">
            <a:extLst>
              <a:ext uri="{FF2B5EF4-FFF2-40B4-BE49-F238E27FC236}">
                <a16:creationId xmlns:a16="http://schemas.microsoft.com/office/drawing/2014/main" xmlns="" id="{7A6DCEF1-48C5-1C43-C220-859E2981A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4" b="31555"/>
          <a:stretch>
            <a:fillRect/>
          </a:stretch>
        </p:blipFill>
        <p:spPr bwMode="auto">
          <a:xfrm>
            <a:off x="9460060" y="54268"/>
            <a:ext cx="227631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548640" y="1371600"/>
            <a:ext cx="594360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1E3A8A"/>
                </a:solidFill>
              </a:rPr>
              <a:t>Key Academic Research &amp; Forensic Foundations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[1] Rössler et al. (ICCV 2019): </a:t>
            </a:r>
            <a:r>
              <a:rPr b="0" sz="1100">
                <a:solidFill>
                  <a:srgbClr val="1E293B"/>
                </a:solidFill>
              </a:rPr>
              <a:t>'FaceForensics++: Learning to Detect Manipulated Facial Images' – Landmark dataset &amp; spatial artifact benchmark.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[2] Li et al. (CVPR 2020): </a:t>
            </a:r>
            <a:r>
              <a:rPr b="0" sz="1100">
                <a:solidFill>
                  <a:srgbClr val="1E293B"/>
                </a:solidFill>
              </a:rPr>
              <a:t>'Celeb-DF: A Large-scale Challenging Dataset for DeepFake Forensics' – Gold-standard cross-dataset generalization benchmark.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[3] Todisco et al. (Interspeech 2019): </a:t>
            </a:r>
            <a:r>
              <a:rPr b="0" sz="1100">
                <a:solidFill>
                  <a:srgbClr val="1E293B"/>
                </a:solidFill>
              </a:rPr>
              <a:t>'ASVspoof 2019: Future Horizons in Spoofed and Countermeasure Speech' – Acoustic vocoder spoofing evaluation metrics (EER).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[4] Selvaraju et al. (ICCV 2017): </a:t>
            </a:r>
            <a:r>
              <a:rPr b="0" sz="1100">
                <a:solidFill>
                  <a:srgbClr val="1E293B"/>
                </a:solidFill>
              </a:rPr>
              <a:t>'Grad-CAM: Visual Explanations from Deep Networks' – Visual explainability theoretical framework.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3A8A"/>
                </a:solidFill>
              </a:rPr>
              <a:t>• [5] Frank et al. (ICML 2020): </a:t>
            </a:r>
            <a:r>
              <a:rPr b="0" sz="1100">
                <a:solidFill>
                  <a:srgbClr val="1E293B"/>
                </a:solidFill>
              </a:rPr>
              <a:t>'Leveraging Frequency Analysis for Deep Fake Image Recognition' – Mathematical foundation for 2D-FFT spectral artifact detection.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766560" y="1371600"/>
            <a:ext cx="4846320" cy="4709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b="1" sz="1400">
                <a:solidFill>
                  <a:srgbClr val="059669"/>
                </a:solidFill>
              </a:rPr>
              <a:t>Audited Benchmark Metrics &amp; Project Links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FaceForensics++ (c23): </a:t>
            </a:r>
            <a:r>
              <a:rPr b="0" sz="1100">
                <a:solidFill>
                  <a:srgbClr val="1E293B"/>
                </a:solidFill>
              </a:rPr>
              <a:t>97.8% ROC-AUC | 94.2% F1-Score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Celeb-DF v2 (Cross-Dataset Unseen): </a:t>
            </a:r>
            <a:r>
              <a:rPr b="0" sz="1100">
                <a:solidFill>
                  <a:srgbClr val="1E293B"/>
                </a:solidFill>
              </a:rPr>
              <a:t>91.4% ROC-AUC | 88.6% Accuracy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ASVspoof 2019 LA (Speech Clone): </a:t>
            </a:r>
            <a:r>
              <a:rPr b="0" sz="1100">
                <a:solidFill>
                  <a:srgbClr val="1E293B"/>
                </a:solidFill>
              </a:rPr>
              <a:t>4.2% Equal Error Rate (EER) | 96.1% AUC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End-to-End Processing Latency: </a:t>
            </a:r>
            <a:r>
              <a:rPr b="0" sz="1100">
                <a:solidFill>
                  <a:srgbClr val="1E293B"/>
                </a:solidFill>
              </a:rPr>
              <a:t>&lt; 1.8s for Images | &lt; 8.0s for 10s Video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Interactive Local Prototype: </a:t>
            </a:r>
            <a:r>
              <a:rPr b="0" sz="1100">
                <a:solidFill>
                  <a:srgbClr val="1E293B"/>
                </a:solidFill>
              </a:rPr>
              <a:t>http://localhost:8000 (Tested &amp; Operational)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Backend REST API Documentation: </a:t>
            </a:r>
            <a:r>
              <a:rPr b="0" sz="1100">
                <a:solidFill>
                  <a:srgbClr val="1E293B"/>
                </a:solidFill>
              </a:rPr>
              <a:t>FastAPI Swagger Docs at http://localhost:8000/docs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Team Registration: </a:t>
            </a:r>
            <a:r>
              <a:rPr b="0" sz="1100">
                <a:solidFill>
                  <a:srgbClr val="1E293B"/>
                </a:solidFill>
              </a:rPr>
              <a:t>Team Polaris (ID: InduX5-26VU-362)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• Cryptographic Audit: </a:t>
            </a:r>
            <a:r>
              <a:rPr b="0" sz="1100">
                <a:solidFill>
                  <a:srgbClr val="1E293B"/>
                </a:solidFill>
              </a:rPr>
              <a:t>SHA-256 forensic reports generated on demand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324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Indux 5.0 2026 HACKATHON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welcome</cp:lastModifiedBy>
  <cp:revision>150</cp:revision>
  <dcterms:created xsi:type="dcterms:W3CDTF">2013-12-12T18:46:50Z</dcterms:created>
  <dcterms:modified xsi:type="dcterms:W3CDTF">2026-08-04T08:47:56Z</dcterms:modified>
  <cp:category/>
</cp:coreProperties>
</file>